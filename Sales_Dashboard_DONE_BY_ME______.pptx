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14.xml" ContentType="application/vnd.openxmlformats-officedocument.presentationml.notesSlide+xml"/>
  <Override PartName="/ppt/charts/chart10.xml" ContentType="application/vnd.openxmlformats-officedocument.drawingml.chart+xml"/>
  <Override PartName="/ppt/notesSlides/notesSlide15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16.xml" ContentType="application/vnd.openxmlformats-officedocument.presentationml.notesSlide+xml"/>
  <Override PartName="/ppt/charts/chart13.xml" ContentType="application/vnd.openxmlformats-officedocument.drawingml.chart+xml"/>
  <Override PartName="/ppt/notesSlides/notesSlide17.xml" ContentType="application/vnd.openxmlformats-officedocument.presentationml.notesSlide+xml"/>
  <Override PartName="/ppt/charts/chart14.xml" ContentType="application/vnd.openxmlformats-officedocument.drawingml.chart+xml"/>
  <Override PartName="/ppt/notesSlides/notesSlide18.xml" ContentType="application/vnd.openxmlformats-officedocument.presentationml.notesSlide+xml"/>
  <Override PartName="/ppt/charts/chart15.xml" ContentType="application/vnd.openxmlformats-officedocument.drawingml.chart+xml"/>
  <Override PartName="/ppt/notesSlides/notesSlide19.xml" ContentType="application/vnd.openxmlformats-officedocument.presentationml.notesSlide+xml"/>
  <Override PartName="/ppt/charts/chart16.xml" ContentType="application/vnd.openxmlformats-officedocument.drawingml.chart+xml"/>
  <Override PartName="/ppt/notesSlides/notesSlide20.xml" ContentType="application/vnd.openxmlformats-officedocument.presentationml.notesSl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notesSlides/notesSlide21.xml" ContentType="application/vnd.openxmlformats-officedocument.presentationml.notesSlide+xml"/>
  <Override PartName="/ppt/charts/chart19.xml" ContentType="application/vnd.openxmlformats-officedocument.drawingml.chart+xml"/>
  <Override PartName="/ppt/notesSlides/notesSlide22.xml" ContentType="application/vnd.openxmlformats-officedocument.presentationml.notesSlide+xml"/>
  <Override PartName="/ppt/charts/chart20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6" r:id="rId31"/>
    <p:sldId id="287" r:id="rId32"/>
    <p:sldId id="288" r:id="rId33"/>
    <p:sldId id="284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254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husein khan" userId="23c116bcfbbf89bb" providerId="LiveId" clId="{7380EBED-B627-4919-97D7-6E870C5688A0}"/>
    <pc:docChg chg="modSld sldOrd">
      <pc:chgData name="mohammed husein khan" userId="23c116bcfbbf89bb" providerId="LiveId" clId="{7380EBED-B627-4919-97D7-6E870C5688A0}" dt="2026-03-17T04:07:52.513" v="15" actId="1076"/>
      <pc:docMkLst>
        <pc:docMk/>
      </pc:docMkLst>
      <pc:sldChg chg="modSp mod">
        <pc:chgData name="mohammed husein khan" userId="23c116bcfbbf89bb" providerId="LiveId" clId="{7380EBED-B627-4919-97D7-6E870C5688A0}" dt="2026-03-12T17:12:40.197" v="10" actId="20577"/>
        <pc:sldMkLst>
          <pc:docMk/>
          <pc:sldMk cId="0" sldId="257"/>
        </pc:sldMkLst>
        <pc:spChg chg="mod">
          <ac:chgData name="mohammed husein khan" userId="23c116bcfbbf89bb" providerId="LiveId" clId="{7380EBED-B627-4919-97D7-6E870C5688A0}" dt="2026-03-12T17:11:49.490" v="2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mohammed husein khan" userId="23c116bcfbbf89bb" providerId="LiveId" clId="{7380EBED-B627-4919-97D7-6E870C5688A0}" dt="2026-03-12T17:12:18.780" v="7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mohammed husein khan" userId="23c116bcfbbf89bb" providerId="LiveId" clId="{7380EBED-B627-4919-97D7-6E870C5688A0}" dt="2026-03-12T17:12:40.197" v="10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mohammed husein khan" userId="23c116bcfbbf89bb" providerId="LiveId" clId="{7380EBED-B627-4919-97D7-6E870C5688A0}" dt="2026-03-12T17:12:32.113" v="9" actId="1076"/>
          <ac:spMkLst>
            <pc:docMk/>
            <pc:sldMk cId="0" sldId="257"/>
            <ac:spMk id="10" creationId="{00000000-0000-0000-0000-000000000000}"/>
          </ac:spMkLst>
        </pc:spChg>
      </pc:sldChg>
      <pc:sldChg chg="modSp mod">
        <pc:chgData name="mohammed husein khan" userId="23c116bcfbbf89bb" providerId="LiveId" clId="{7380EBED-B627-4919-97D7-6E870C5688A0}" dt="2026-03-17T04:07:52.513" v="15" actId="1076"/>
        <pc:sldMkLst>
          <pc:docMk/>
          <pc:sldMk cId="0" sldId="261"/>
        </pc:sldMkLst>
        <pc:spChg chg="mod">
          <ac:chgData name="mohammed husein khan" userId="23c116bcfbbf89bb" providerId="LiveId" clId="{7380EBED-B627-4919-97D7-6E870C5688A0}" dt="2026-03-17T04:07:52.513" v="15" actId="1076"/>
          <ac:spMkLst>
            <pc:docMk/>
            <pc:sldMk cId="0" sldId="261"/>
            <ac:spMk id="45" creationId="{00000000-0000-0000-0000-000000000000}"/>
          </ac:spMkLst>
        </pc:spChg>
      </pc:sldChg>
      <pc:sldChg chg="modSp mod ord">
        <pc:chgData name="mohammed husein khan" userId="23c116bcfbbf89bb" providerId="LiveId" clId="{7380EBED-B627-4919-97D7-6E870C5688A0}" dt="2026-03-12T17:13:49.630" v="14" actId="20577"/>
        <pc:sldMkLst>
          <pc:docMk/>
          <pc:sldMk cId="0" sldId="284"/>
        </pc:sldMkLst>
        <pc:spChg chg="mod">
          <ac:chgData name="mohammed husein khan" userId="23c116bcfbbf89bb" providerId="LiveId" clId="{7380EBED-B627-4919-97D7-6E870C5688A0}" dt="2026-03-12T17:13:49.630" v="14" actId="20577"/>
          <ac:spMkLst>
            <pc:docMk/>
            <pc:sldMk cId="0" sldId="284"/>
            <ac:spMk id="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Monthly Revenue vs Profit (₹ Lakhs)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(₹L)</c:v>
                </c:pt>
              </c:strCache>
            </c:strRef>
          </c:tx>
          <c:spPr>
            <a:solidFill>
              <a:srgbClr val="B71C1C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360.7</c:v>
                </c:pt>
                <c:pt idx="1">
                  <c:v>380.9</c:v>
                </c:pt>
                <c:pt idx="2">
                  <c:v>332.5</c:v>
                </c:pt>
                <c:pt idx="3">
                  <c:v>397.6</c:v>
                </c:pt>
                <c:pt idx="4">
                  <c:v>313.60000000000002</c:v>
                </c:pt>
                <c:pt idx="5">
                  <c:v>332.4</c:v>
                </c:pt>
                <c:pt idx="6">
                  <c:v>336.1</c:v>
                </c:pt>
                <c:pt idx="7">
                  <c:v>423.6</c:v>
                </c:pt>
                <c:pt idx="8">
                  <c:v>402.3</c:v>
                </c:pt>
                <c:pt idx="9">
                  <c:v>398.2</c:v>
                </c:pt>
                <c:pt idx="10">
                  <c:v>325.89999999999998</c:v>
                </c:pt>
                <c:pt idx="11">
                  <c:v>372.7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94-43AD-A862-0891A32E5C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(₹L)</c:v>
                </c:pt>
              </c:strCache>
            </c:strRef>
          </c:tx>
          <c:spPr>
            <a:solidFill>
              <a:srgbClr val="FF8A80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166</c:v>
                </c:pt>
                <c:pt idx="1">
                  <c:v>171.6</c:v>
                </c:pt>
                <c:pt idx="2">
                  <c:v>146.1</c:v>
                </c:pt>
                <c:pt idx="3">
                  <c:v>182.3</c:v>
                </c:pt>
                <c:pt idx="4">
                  <c:v>140.69999999999999</c:v>
                </c:pt>
                <c:pt idx="5">
                  <c:v>147.9</c:v>
                </c:pt>
                <c:pt idx="6">
                  <c:v>148.4</c:v>
                </c:pt>
                <c:pt idx="7">
                  <c:v>188.7</c:v>
                </c:pt>
                <c:pt idx="8">
                  <c:v>186.1</c:v>
                </c:pt>
                <c:pt idx="9">
                  <c:v>181.1</c:v>
                </c:pt>
                <c:pt idx="10">
                  <c:v>145.5</c:v>
                </c:pt>
                <c:pt idx="11">
                  <c:v>171.2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94-43AD-A862-0891A32E5C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00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001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10001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Quarterly Revenue vs Profit (₹ Lakhs)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(₹L)</c:v>
                </c:pt>
              </c:strCache>
            </c:strRef>
          </c:tx>
          <c:spPr>
            <a:solidFill>
              <a:srgbClr val="880E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1074.2</c:v>
                </c:pt>
                <c:pt idx="1">
                  <c:v>1043.7</c:v>
                </c:pt>
                <c:pt idx="2">
                  <c:v>1162</c:v>
                </c:pt>
                <c:pt idx="3">
                  <c:v>1096.8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01-453B-B2EA-B913A86322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(₹L)</c:v>
                </c:pt>
              </c:strCache>
            </c:strRef>
          </c:tx>
          <c:spPr>
            <a:solidFill>
              <a:srgbClr val="FF80A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483.7</c:v>
                </c:pt>
                <c:pt idx="1">
                  <c:v>470.9</c:v>
                </c:pt>
                <c:pt idx="2">
                  <c:v>523.29999999999995</c:v>
                </c:pt>
                <c:pt idx="3">
                  <c:v>497.7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01-453B-B2EA-B913A86322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00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001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10001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Revenue &amp; Profit by Category (₹ Lakhs)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(₹L)</c:v>
                </c:pt>
              </c:strCache>
            </c:strRef>
          </c:tx>
          <c:spPr>
            <a:solidFill>
              <a:srgbClr val="B71C1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Sports &amp;
Fitness</c:v>
                </c:pt>
                <c:pt idx="2">
                  <c:v>Home &amp;
Kitchen</c:v>
                </c:pt>
                <c:pt idx="3">
                  <c:v>Clothing</c:v>
                </c:pt>
                <c:pt idx="4">
                  <c:v>Beauty
&amp; Care</c:v>
                </c:pt>
                <c:pt idx="5">
                  <c:v>Books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3121.2</c:v>
                </c:pt>
                <c:pt idx="1">
                  <c:v>499.9</c:v>
                </c:pt>
                <c:pt idx="2">
                  <c:v>478.2</c:v>
                </c:pt>
                <c:pt idx="3">
                  <c:v>170.9</c:v>
                </c:pt>
                <c:pt idx="4">
                  <c:v>70.2</c:v>
                </c:pt>
                <c:pt idx="5">
                  <c:v>36.4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89-4463-8AB4-B771199EE6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(₹L)</c:v>
                </c:pt>
              </c:strCache>
            </c:strRef>
          </c:tx>
          <c:spPr>
            <a:solidFill>
              <a:srgbClr val="FF8A8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Sports &amp;
Fitness</c:v>
                </c:pt>
                <c:pt idx="2">
                  <c:v>Home &amp;
Kitchen</c:v>
                </c:pt>
                <c:pt idx="3">
                  <c:v>Clothing</c:v>
                </c:pt>
                <c:pt idx="4">
                  <c:v>Beauty
&amp; Care</c:v>
                </c:pt>
                <c:pt idx="5">
                  <c:v>Books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1416.4</c:v>
                </c:pt>
                <c:pt idx="1">
                  <c:v>223.5</c:v>
                </c:pt>
                <c:pt idx="2">
                  <c:v>211.7</c:v>
                </c:pt>
                <c:pt idx="3">
                  <c:v>76.2</c:v>
                </c:pt>
                <c:pt idx="4">
                  <c:v>31.3</c:v>
                </c:pt>
                <c:pt idx="5">
                  <c:v>16.5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89-4463-8AB4-B771199EE6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00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001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10001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Top 10 Products by Revenue (₹ Lakhs)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(₹L)</c:v>
                </c:pt>
              </c:strCache>
            </c:strRef>
          </c:tx>
          <c:spPr>
            <a:solidFill>
              <a:srgbClr val="880E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iPad Air M2</c:v>
                </c:pt>
                <c:pt idx="1">
                  <c:v>Gaming Laptop Z</c:v>
                </c:pt>
                <c:pt idx="2">
                  <c:v>Laptop Pro 15</c:v>
                </c:pt>
                <c:pt idx="3">
                  <c:v>Business Laptop</c:v>
                </c:pt>
                <c:pt idx="4">
                  <c:v>iPhone 15 Pro</c:v>
                </c:pt>
                <c:pt idx="5">
                  <c:v>Samsung Tab S9</c:v>
                </c:pt>
                <c:pt idx="6">
                  <c:v>Samsung S24</c:v>
                </c:pt>
                <c:pt idx="7">
                  <c:v>Treadmill Pro</c:v>
                </c:pt>
                <c:pt idx="8">
                  <c:v>UltraBook 14</c:v>
                </c:pt>
                <c:pt idx="9">
                  <c:v>Lenovo Tab P12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456.6</c:v>
                </c:pt>
                <c:pt idx="1">
                  <c:v>358.1</c:v>
                </c:pt>
                <c:pt idx="2">
                  <c:v>311.3</c:v>
                </c:pt>
                <c:pt idx="3">
                  <c:v>308.2</c:v>
                </c:pt>
                <c:pt idx="4">
                  <c:v>304.10000000000002</c:v>
                </c:pt>
                <c:pt idx="5">
                  <c:v>296.3</c:v>
                </c:pt>
                <c:pt idx="6">
                  <c:v>272.8</c:v>
                </c:pt>
                <c:pt idx="7">
                  <c:v>262.3</c:v>
                </c:pt>
                <c:pt idx="8">
                  <c:v>224.4</c:v>
                </c:pt>
                <c:pt idx="9">
                  <c:v>177.5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56-45B0-B8B0-83C0E17CD8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00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001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0001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E293B"/>
                </a:solidFill>
                <a:latin typeface="Arial"/>
              </a:rPr>
              <a:t>Revenue by Region (₹ Lakhs)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(₹L)</c:v>
                </c:pt>
              </c:strCache>
            </c:strRef>
          </c:tx>
          <c:spPr>
            <a:solidFill>
              <a:srgbClr val="B71C1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1D7-4640-83B2-3D3F63B9266E}"/>
              </c:ext>
            </c:extLst>
          </c:dPt>
          <c:dPt>
            <c:idx val="1"/>
            <c:invertIfNegative val="0"/>
            <c:bubble3D val="0"/>
            <c:spPr>
              <a:solidFill>
                <a:srgbClr val="880E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1D7-4640-83B2-3D3F63B9266E}"/>
              </c:ext>
            </c:extLst>
          </c:dPt>
          <c:dPt>
            <c:idx val="2"/>
            <c:invertIfNegative val="0"/>
            <c:bubble3D val="0"/>
            <c:spPr>
              <a:solidFill>
                <a:srgbClr val="4A14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1D7-4640-83B2-3D3F63B9266E}"/>
              </c:ext>
            </c:extLst>
          </c:dPt>
          <c:dPt>
            <c:idx val="3"/>
            <c:invertIfNegative val="0"/>
            <c:bubble3D val="0"/>
            <c:spPr>
              <a:solidFill>
                <a:srgbClr val="1A23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1D7-4640-83B2-3D3F63B9266E}"/>
              </c:ext>
            </c:extLst>
          </c:dPt>
          <c:dPt>
            <c:idx val="4"/>
            <c:invertIfNegative val="0"/>
            <c:bubble3D val="0"/>
            <c:spPr>
              <a:solidFill>
                <a:srgbClr val="0060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1D7-4640-83B2-3D3F63B9266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Central</c:v>
                </c:pt>
                <c:pt idx="1">
                  <c:v>West</c:v>
                </c:pt>
                <c:pt idx="2">
                  <c:v>East</c:v>
                </c:pt>
                <c:pt idx="3">
                  <c:v>South</c:v>
                </c:pt>
                <c:pt idx="4">
                  <c:v>North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936.1</c:v>
                </c:pt>
                <c:pt idx="1">
                  <c:v>927.9</c:v>
                </c:pt>
                <c:pt idx="2">
                  <c:v>875.4</c:v>
                </c:pt>
                <c:pt idx="3">
                  <c:v>844.8</c:v>
                </c:pt>
                <c:pt idx="4">
                  <c:v>792.5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1D7-4640-83B2-3D3F63B926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00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001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0001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(₹L)</c:v>
                </c:pt>
              </c:strCache>
            </c:strRef>
          </c:tx>
          <c:spPr>
            <a:solidFill>
              <a:srgbClr val="8B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Madhya Pradesh</c:v>
                </c:pt>
                <c:pt idx="1">
                  <c:v>Maharashtra</c:v>
                </c:pt>
                <c:pt idx="2">
                  <c:v>Gujarat</c:v>
                </c:pt>
                <c:pt idx="3">
                  <c:v>Tamil Nadu</c:v>
                </c:pt>
                <c:pt idx="4">
                  <c:v>Uttar Pradesh</c:v>
                </c:pt>
                <c:pt idx="5">
                  <c:v>Jharkhand</c:v>
                </c:pt>
                <c:pt idx="6">
                  <c:v>Karnataka</c:v>
                </c:pt>
                <c:pt idx="7">
                  <c:v>West Bengal</c:v>
                </c:pt>
                <c:pt idx="8">
                  <c:v>Odisha</c:v>
                </c:pt>
                <c:pt idx="9">
                  <c:v>Punjab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779.2</c:v>
                </c:pt>
                <c:pt idx="1">
                  <c:v>493.2</c:v>
                </c:pt>
                <c:pt idx="2">
                  <c:v>434.7</c:v>
                </c:pt>
                <c:pt idx="3">
                  <c:v>351.8</c:v>
                </c:pt>
                <c:pt idx="4">
                  <c:v>330.3</c:v>
                </c:pt>
                <c:pt idx="5">
                  <c:v>215</c:v>
                </c:pt>
                <c:pt idx="6">
                  <c:v>214.4</c:v>
                </c:pt>
                <c:pt idx="7">
                  <c:v>207.1</c:v>
                </c:pt>
                <c:pt idx="8">
                  <c:v>190</c:v>
                </c:pt>
                <c:pt idx="9">
                  <c:v>179.6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D2-4764-BACB-795AABC711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00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001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00010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(₹L)</c:v>
                </c:pt>
              </c:strCache>
            </c:strRef>
          </c:tx>
          <c:spPr>
            <a:solidFill>
              <a:srgbClr val="4A14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Ujjain</c:v>
                </c:pt>
                <c:pt idx="1">
                  <c:v>Jabalpur</c:v>
                </c:pt>
                <c:pt idx="2">
                  <c:v>Bhopal</c:v>
                </c:pt>
                <c:pt idx="3">
                  <c:v>Raipur</c:v>
                </c:pt>
                <c:pt idx="4">
                  <c:v>Gwalior</c:v>
                </c:pt>
                <c:pt idx="5">
                  <c:v>Patna</c:v>
                </c:pt>
                <c:pt idx="6">
                  <c:v>Lucknow</c:v>
                </c:pt>
                <c:pt idx="7">
                  <c:v>Coimbatore</c:v>
                </c:pt>
                <c:pt idx="8">
                  <c:v>Pune</c:v>
                </c:pt>
                <c:pt idx="9">
                  <c:v>Madurai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171.2</c:v>
                </c:pt>
                <c:pt idx="1">
                  <c:v>171</c:v>
                </c:pt>
                <c:pt idx="2">
                  <c:v>164.1</c:v>
                </c:pt>
                <c:pt idx="3">
                  <c:v>156.9</c:v>
                </c:pt>
                <c:pt idx="4">
                  <c:v>156.80000000000001</c:v>
                </c:pt>
                <c:pt idx="5">
                  <c:v>150.69999999999999</c:v>
                </c:pt>
                <c:pt idx="6">
                  <c:v>144.9</c:v>
                </c:pt>
                <c:pt idx="7">
                  <c:v>139.6</c:v>
                </c:pt>
                <c:pt idx="8">
                  <c:v>134.80000000000001</c:v>
                </c:pt>
                <c:pt idx="9">
                  <c:v>132.19999999999999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70-4436-B30D-FE22679818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00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001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00010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E293B"/>
                </a:solidFill>
                <a:latin typeface="Arial"/>
              </a:rPr>
              <a:t>Revenue by Customer Type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71C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E78-475E-A2BB-2F4A5309A878}"/>
              </c:ext>
            </c:extLst>
          </c:dPt>
          <c:dPt>
            <c:idx val="1"/>
            <c:bubble3D val="0"/>
            <c:spPr>
              <a:solidFill>
                <a:srgbClr val="880E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E78-475E-A2BB-2F4A5309A878}"/>
              </c:ext>
            </c:extLst>
          </c:dPt>
          <c:dPt>
            <c:idx val="2"/>
            <c:bubble3D val="0"/>
            <c:spPr>
              <a:solidFill>
                <a:srgbClr val="4A14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E78-475E-A2BB-2F4A5309A878}"/>
              </c:ext>
            </c:extLst>
          </c:dPt>
          <c:dPt>
            <c:idx val="3"/>
            <c:bubble3D val="0"/>
            <c:spPr>
              <a:solidFill>
                <a:srgbClr val="1A23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E78-475E-A2BB-2F4A5309A878}"/>
              </c:ext>
            </c:extLst>
          </c:dPt>
          <c:dPt>
            <c:idx val="4"/>
            <c:bubble3D val="0"/>
            <c:spPr>
              <a:solidFill>
                <a:srgbClr val="0060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E78-475E-A2BB-2F4A5309A87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E78-475E-A2BB-2F4A5309A87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E78-475E-A2BB-2F4A5309A87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E78-475E-A2BB-2F4A5309A87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E78-475E-A2BB-2F4A5309A878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E78-475E-A2BB-2F4A5309A87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Retail</c:v>
                </c:pt>
                <c:pt idx="1">
                  <c:v>Walk-in</c:v>
                </c:pt>
                <c:pt idx="2">
                  <c:v>Wholesale</c:v>
                </c:pt>
                <c:pt idx="3">
                  <c:v>Corporate</c:v>
                </c:pt>
                <c:pt idx="4">
                  <c:v>Online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1009.2</c:v>
                </c:pt>
                <c:pt idx="1">
                  <c:v>906.7</c:v>
                </c:pt>
                <c:pt idx="2">
                  <c:v>906.2</c:v>
                </c:pt>
                <c:pt idx="3">
                  <c:v>775.8</c:v>
                </c:pt>
                <c:pt idx="4">
                  <c:v>778.9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E78-475E-A2BB-2F4A5309A8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18001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/>
          </a:pPr>
          <a:endParaRPr lang="en-US"/>
        </a:p>
      </c:txPr>
    </c:legend>
    <c:plotVisOnly val="1"/>
    <c:dispBlanksAs val="span"/>
    <c:showDLblsOverMax val="1"/>
  </c:chart>
  <c:spPr>
    <a:solidFill>
      <a:srgbClr val="100010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E293B"/>
                </a:solidFill>
                <a:latin typeface="Arial"/>
              </a:rPr>
              <a:t>Gender Split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(₹L)</c:v>
                </c:pt>
              </c:strCache>
            </c:strRef>
          </c:tx>
          <c:spPr>
            <a:solidFill>
              <a:srgbClr val="1A237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2470.5</c:v>
                </c:pt>
                <c:pt idx="1">
                  <c:v>1906.2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BE-490A-A422-BD4632F216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FF80A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3030</c:v>
                </c:pt>
                <c:pt idx="1">
                  <c:v>1970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8BE-490A-A422-BD4632F216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00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001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100010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Revenue &amp; Orders by Customer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(₹L)</c:v>
                </c:pt>
              </c:strCache>
            </c:strRef>
          </c:tx>
          <c:spPr>
            <a:solidFill>
              <a:srgbClr val="880E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18–25</c:v>
                </c:pt>
                <c:pt idx="1">
                  <c:v>26–35</c:v>
                </c:pt>
                <c:pt idx="2">
                  <c:v>36–45</c:v>
                </c:pt>
                <c:pt idx="3">
                  <c:v>46–55</c:v>
                </c:pt>
                <c:pt idx="4">
                  <c:v>56+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808.3</c:v>
                </c:pt>
                <c:pt idx="1">
                  <c:v>968</c:v>
                </c:pt>
                <c:pt idx="2">
                  <c:v>798.4</c:v>
                </c:pt>
                <c:pt idx="3">
                  <c:v>1017.5</c:v>
                </c:pt>
                <c:pt idx="4">
                  <c:v>784.6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3D-4999-A8C9-E8EA2F60C3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FF80A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18–25</c:v>
                </c:pt>
                <c:pt idx="1">
                  <c:v>26–35</c:v>
                </c:pt>
                <c:pt idx="2">
                  <c:v>36–45</c:v>
                </c:pt>
                <c:pt idx="3">
                  <c:v>46–55</c:v>
                </c:pt>
                <c:pt idx="4">
                  <c:v>56+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818</c:v>
                </c:pt>
                <c:pt idx="1">
                  <c:v>1037</c:v>
                </c:pt>
                <c:pt idx="2">
                  <c:v>1032</c:v>
                </c:pt>
                <c:pt idx="3">
                  <c:v>1066</c:v>
                </c:pt>
                <c:pt idx="4">
                  <c:v>1047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3D-4999-A8C9-E8EA2F60C3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00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001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100010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8B00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C4C-42C6-A433-3B677BCFBD73}"/>
              </c:ext>
            </c:extLst>
          </c:dPt>
          <c:dPt>
            <c:idx val="1"/>
            <c:invertIfNegative val="0"/>
            <c:bubble3D val="0"/>
            <c:spPr>
              <a:solidFill>
                <a:srgbClr val="6A00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C4C-42C6-A433-3B677BCFBD73}"/>
              </c:ext>
            </c:extLst>
          </c:dPt>
          <c:dPt>
            <c:idx val="2"/>
            <c:invertIfNegative val="0"/>
            <c:bubble3D val="0"/>
            <c:spPr>
              <a:solidFill>
                <a:srgbClr val="1A23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C4C-42C6-A433-3B677BCFBD73}"/>
              </c:ext>
            </c:extLst>
          </c:dPt>
          <c:dPt>
            <c:idx val="3"/>
            <c:invertIfNegative val="0"/>
            <c:bubble3D val="0"/>
            <c:spPr>
              <a:solidFill>
                <a:srgbClr val="0060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C4C-42C6-A433-3B677BCFBD73}"/>
              </c:ext>
            </c:extLst>
          </c:dPt>
          <c:dPt>
            <c:idx val="4"/>
            <c:invertIfNegative val="0"/>
            <c:bubble3D val="0"/>
            <c:spPr>
              <a:solidFill>
                <a:srgbClr val="4A14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C4C-42C6-A433-3B677BCFBD73}"/>
              </c:ext>
            </c:extLst>
          </c:dPt>
          <c:dPt>
            <c:idx val="5"/>
            <c:invertIfNegative val="0"/>
            <c:bubble3D val="0"/>
            <c:spPr>
              <a:solidFill>
                <a:srgbClr val="B71C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C4C-42C6-A433-3B677BCFBD73}"/>
              </c:ext>
            </c:extLst>
          </c:dPt>
          <c:dPt>
            <c:idx val="6"/>
            <c:invertIfNegative val="0"/>
            <c:bubble3D val="0"/>
            <c:spPr>
              <a:solidFill>
                <a:srgbClr val="880E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C4C-42C6-A433-3B677BCFBD7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Cash on Delivery</c:v>
                </c:pt>
                <c:pt idx="1">
                  <c:v>Wallet</c:v>
                </c:pt>
                <c:pt idx="2">
                  <c:v>Debit Card</c:v>
                </c:pt>
                <c:pt idx="3">
                  <c:v>EMI</c:v>
                </c:pt>
                <c:pt idx="4">
                  <c:v>Net Banking</c:v>
                </c:pt>
                <c:pt idx="5">
                  <c:v>Credit Card</c:v>
                </c:pt>
                <c:pt idx="6">
                  <c:v>UPI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738</c:v>
                </c:pt>
                <c:pt idx="1">
                  <c:v>728</c:v>
                </c:pt>
                <c:pt idx="2">
                  <c:v>722</c:v>
                </c:pt>
                <c:pt idx="3">
                  <c:v>720</c:v>
                </c:pt>
                <c:pt idx="4">
                  <c:v>714</c:v>
                </c:pt>
                <c:pt idx="5">
                  <c:v>706</c:v>
                </c:pt>
                <c:pt idx="6">
                  <c:v>672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BC4C-42C6-A433-3B677BCFBD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00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001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00010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(₹L)</c:v>
                </c:pt>
              </c:strCache>
            </c:strRef>
          </c:tx>
          <c:spPr>
            <a:solidFill>
              <a:srgbClr val="4A148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413-4770-ADD2-556210501FD3}"/>
              </c:ext>
            </c:extLst>
          </c:dPt>
          <c:dPt>
            <c:idx val="1"/>
            <c:invertIfNegative val="0"/>
            <c:bubble3D val="0"/>
            <c:spPr>
              <a:solidFill>
                <a:srgbClr val="1A23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413-4770-ADD2-556210501FD3}"/>
              </c:ext>
            </c:extLst>
          </c:dPt>
          <c:dPt>
            <c:idx val="2"/>
            <c:invertIfNegative val="0"/>
            <c:bubble3D val="0"/>
            <c:spPr>
              <a:solidFill>
                <a:srgbClr val="0060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413-4770-ADD2-556210501FD3}"/>
              </c:ext>
            </c:extLst>
          </c:dPt>
          <c:dPt>
            <c:idx val="3"/>
            <c:invertIfNegative val="0"/>
            <c:bubble3D val="0"/>
            <c:spPr>
              <a:solidFill>
                <a:srgbClr val="880E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413-4770-ADD2-556210501FD3}"/>
              </c:ext>
            </c:extLst>
          </c:dPt>
          <c:dPt>
            <c:idx val="4"/>
            <c:invertIfNegative val="0"/>
            <c:bubble3D val="0"/>
            <c:spPr>
              <a:solidFill>
                <a:srgbClr val="B71C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413-4770-ADD2-556210501FD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Next Day</c:v>
                </c:pt>
                <c:pt idx="1">
                  <c:v>Standard</c:v>
                </c:pt>
                <c:pt idx="2">
                  <c:v>Same Day</c:v>
                </c:pt>
                <c:pt idx="3">
                  <c:v>Express</c:v>
                </c:pt>
                <c:pt idx="4">
                  <c:v>Pick-up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954.5</c:v>
                </c:pt>
                <c:pt idx="1">
                  <c:v>885.4</c:v>
                </c:pt>
                <c:pt idx="2">
                  <c:v>869.2</c:v>
                </c:pt>
                <c:pt idx="3">
                  <c:v>849.4</c:v>
                </c:pt>
                <c:pt idx="4">
                  <c:v>818.3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413-4770-ADD2-556210501F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00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001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00010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E293B"/>
                </a:solidFill>
                <a:latin typeface="Arial"/>
              </a:rPr>
              <a:t>Order Status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5E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A07-4C90-B1D4-61BA938C9ED3}"/>
              </c:ext>
            </c:extLst>
          </c:dPt>
          <c:dPt>
            <c:idx val="1"/>
            <c:bubble3D val="0"/>
            <c:spPr>
              <a:solidFill>
                <a:srgbClr val="E651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A07-4C90-B1D4-61BA938C9ED3}"/>
              </c:ext>
            </c:extLst>
          </c:dPt>
          <c:dPt>
            <c:idx val="2"/>
            <c:bubble3D val="0"/>
            <c:spPr>
              <a:solidFill>
                <a:srgbClr val="B71C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A07-4C90-B1D4-61BA938C9ED3}"/>
              </c:ext>
            </c:extLst>
          </c:dPt>
          <c:dPt>
            <c:idx val="3"/>
            <c:bubble3D val="0"/>
            <c:spPr>
              <a:solidFill>
                <a:srgbClr val="880E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A07-4C90-B1D4-61BA938C9ED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A07-4C90-B1D4-61BA938C9ED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A07-4C90-B1D4-61BA938C9ED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A07-4C90-B1D4-61BA938C9ED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A07-4C90-B1D4-61BA938C9ED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Delivered</c:v>
                </c:pt>
                <c:pt idx="1">
                  <c:v>Pending</c:v>
                </c:pt>
                <c:pt idx="2">
                  <c:v>Cancelled</c:v>
                </c:pt>
                <c:pt idx="3">
                  <c:v>Returned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2812</c:v>
                </c:pt>
                <c:pt idx="1">
                  <c:v>741</c:v>
                </c:pt>
                <c:pt idx="2">
                  <c:v>735</c:v>
                </c:pt>
                <c:pt idx="3">
                  <c:v>712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A07-4C90-B1D4-61BA938C9E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18001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100010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E293B"/>
                </a:solidFill>
                <a:latin typeface="Arial"/>
              </a:rPr>
              <a:t>Sales Rep Revenue (₹ Lakhs)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(₹L)</c:v>
                </c:pt>
              </c:strCache>
            </c:strRef>
          </c:tx>
          <c:spPr>
            <a:solidFill>
              <a:srgbClr val="8B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Rohan Shah</c:v>
                </c:pt>
                <c:pt idx="1">
                  <c:v>Subhash Das</c:v>
                </c:pt>
                <c:pt idx="2">
                  <c:v>Manish Chouhan</c:v>
                </c:pt>
                <c:pt idx="3">
                  <c:v>Lakshmi Devi</c:v>
                </c:pt>
                <c:pt idx="4">
                  <c:v>Sneha Patil</c:v>
                </c:pt>
                <c:pt idx="5">
                  <c:v>Kavita Dubey</c:v>
                </c:pt>
                <c:pt idx="6">
                  <c:v>Deepak Yadav</c:v>
                </c:pt>
                <c:pt idx="7">
                  <c:v>Rekha Mishra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244.8</c:v>
                </c:pt>
                <c:pt idx="1">
                  <c:v>233.6</c:v>
                </c:pt>
                <c:pt idx="2">
                  <c:v>222.1</c:v>
                </c:pt>
                <c:pt idx="3">
                  <c:v>220.2</c:v>
                </c:pt>
                <c:pt idx="4">
                  <c:v>213.3</c:v>
                </c:pt>
                <c:pt idx="5">
                  <c:v>210.8</c:v>
                </c:pt>
                <c:pt idx="6">
                  <c:v>197.8</c:v>
                </c:pt>
                <c:pt idx="7">
                  <c:v>190.2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24-4822-AB00-6361A95B7F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00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001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00010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E293B"/>
                </a:solidFill>
                <a:latin typeface="Arial"/>
              </a:rPr>
              <a:t>Customer Rating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No. of Orders</c:v>
                </c:pt>
              </c:strCache>
            </c:strRef>
          </c:tx>
          <c:spPr>
            <a:solidFill>
              <a:srgbClr val="B71C1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B6E-4F76-A001-1EF227C6892B}"/>
              </c:ext>
            </c:extLst>
          </c:dPt>
          <c:dPt>
            <c:idx val="1"/>
            <c:invertIfNegative val="0"/>
            <c:bubble3D val="0"/>
            <c:spPr>
              <a:solidFill>
                <a:srgbClr val="880E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B6E-4F76-A001-1EF227C6892B}"/>
              </c:ext>
            </c:extLst>
          </c:dPt>
          <c:dPt>
            <c:idx val="2"/>
            <c:invertIfNegative val="0"/>
            <c:bubble3D val="0"/>
            <c:spPr>
              <a:solidFill>
                <a:srgbClr val="4A14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B6E-4F76-A001-1EF227C6892B}"/>
              </c:ext>
            </c:extLst>
          </c:dPt>
          <c:dPt>
            <c:idx val="3"/>
            <c:invertIfNegative val="0"/>
            <c:bubble3D val="0"/>
            <c:spPr>
              <a:solidFill>
                <a:srgbClr val="1B5E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B6E-4F76-A001-1EF227C6892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★★ (2 Star)</c:v>
                </c:pt>
                <c:pt idx="1">
                  <c:v>★★★ (3 Star)</c:v>
                </c:pt>
                <c:pt idx="2">
                  <c:v>★★★★ (4 Star)</c:v>
                </c:pt>
                <c:pt idx="3">
                  <c:v>★★★★★ (5 Star)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907</c:v>
                </c:pt>
                <c:pt idx="1">
                  <c:v>2015</c:v>
                </c:pt>
                <c:pt idx="2">
                  <c:v>1979</c:v>
                </c:pt>
                <c:pt idx="3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B6E-4F76-A001-1EF227C689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00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001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00010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Year-over-Year: Revenue vs Profit (₹ Crore)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(₹Cr)</c:v>
                </c:pt>
              </c:strCache>
            </c:strRef>
          </c:tx>
          <c:spPr>
            <a:solidFill>
              <a:srgbClr val="8B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15.21</c:v>
                </c:pt>
                <c:pt idx="1">
                  <c:v>13.24</c:v>
                </c:pt>
                <c:pt idx="2">
                  <c:v>15.32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5D-478C-BFF6-C6C5CD5FD4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(₹Cr)</c:v>
                </c:pt>
              </c:strCache>
            </c:strRef>
          </c:tx>
          <c:spPr>
            <a:solidFill>
              <a:srgbClr val="FF8A8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6.88</c:v>
                </c:pt>
                <c:pt idx="1">
                  <c:v>5.89</c:v>
                </c:pt>
                <c:pt idx="2">
                  <c:v>6.98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5D-478C-BFF6-C6C5CD5FD46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00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001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100010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8B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Books</c:v>
                </c:pt>
                <c:pt idx="1">
                  <c:v>Beauty
&amp; Care</c:v>
                </c:pt>
                <c:pt idx="2">
                  <c:v>Clothing</c:v>
                </c:pt>
                <c:pt idx="3">
                  <c:v>Home &amp;
Kitchen</c:v>
                </c:pt>
                <c:pt idx="4">
                  <c:v>Sports &amp;
Fitness</c:v>
                </c:pt>
                <c:pt idx="5">
                  <c:v>Electronics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45.3</c:v>
                </c:pt>
                <c:pt idx="1">
                  <c:v>44.5</c:v>
                </c:pt>
                <c:pt idx="2">
                  <c:v>44.6</c:v>
                </c:pt>
                <c:pt idx="3">
                  <c:v>44.3</c:v>
                </c:pt>
                <c:pt idx="4">
                  <c:v>44.7</c:v>
                </c:pt>
                <c:pt idx="5">
                  <c:v>45.4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EE-44D3-B08B-DECAFFDFFD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00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001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00010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%</c:v>
                </c:pt>
              </c:strCache>
            </c:strRef>
          </c:tx>
          <c:spPr>
            <a:ln w="31750" cap="flat">
              <a:solidFill>
                <a:srgbClr val="FF8A8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8A80"/>
              </a:solidFill>
              <a:ln w="9525" cap="flat">
                <a:solidFill>
                  <a:srgbClr val="FF8A80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46</c:v>
                </c:pt>
                <c:pt idx="1">
                  <c:v>45</c:v>
                </c:pt>
                <c:pt idx="2">
                  <c:v>43.9</c:v>
                </c:pt>
                <c:pt idx="3">
                  <c:v>45.8</c:v>
                </c:pt>
                <c:pt idx="4">
                  <c:v>44.9</c:v>
                </c:pt>
                <c:pt idx="5">
                  <c:v>44.5</c:v>
                </c:pt>
                <c:pt idx="6">
                  <c:v>44.2</c:v>
                </c:pt>
                <c:pt idx="7">
                  <c:v>44.6</c:v>
                </c:pt>
                <c:pt idx="8">
                  <c:v>46.3</c:v>
                </c:pt>
                <c:pt idx="9">
                  <c:v>45.5</c:v>
                </c:pt>
                <c:pt idx="10">
                  <c:v>44.6</c:v>
                </c:pt>
                <c:pt idx="11">
                  <c:v>45.9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E26-4538-B675-5C25454F65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00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001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00010"/>
    </a:solidFill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Revenue by Discount Level (Estimated, ₹ Lakhs)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(₹L)</c:v>
                </c:pt>
              </c:strCache>
            </c:strRef>
          </c:tx>
          <c:spPr>
            <a:solidFill>
              <a:srgbClr val="4A148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79C-4FEA-9476-9BDD838373BF}"/>
              </c:ext>
            </c:extLst>
          </c:dPt>
          <c:dPt>
            <c:idx val="1"/>
            <c:invertIfNegative val="0"/>
            <c:bubble3D val="0"/>
            <c:spPr>
              <a:solidFill>
                <a:srgbClr val="6A1B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79C-4FEA-9476-9BDD838373BF}"/>
              </c:ext>
            </c:extLst>
          </c:dPt>
          <c:dPt>
            <c:idx val="2"/>
            <c:invertIfNegative val="0"/>
            <c:bubble3D val="0"/>
            <c:spPr>
              <a:solidFill>
                <a:srgbClr val="7B1FA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79C-4FEA-9476-9BDD838373BF}"/>
              </c:ext>
            </c:extLst>
          </c:dPt>
          <c:dPt>
            <c:idx val="3"/>
            <c:invertIfNegative val="0"/>
            <c:bubble3D val="0"/>
            <c:spPr>
              <a:solidFill>
                <a:srgbClr val="8E24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79C-4FEA-9476-9BDD838373BF}"/>
              </c:ext>
            </c:extLst>
          </c:dPt>
          <c:dPt>
            <c:idx val="4"/>
            <c:invertIfNegative val="0"/>
            <c:bubble3D val="0"/>
            <c:spPr>
              <a:solidFill>
                <a:srgbClr val="9C27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79C-4FEA-9476-9BDD838373BF}"/>
              </c:ext>
            </c:extLst>
          </c:dPt>
          <c:dPt>
            <c:idx val="5"/>
            <c:invertIfNegative val="0"/>
            <c:bubble3D val="0"/>
            <c:spPr>
              <a:solidFill>
                <a:srgbClr val="AB47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79C-4FEA-9476-9BDD838373BF}"/>
              </c:ext>
            </c:extLst>
          </c:dPt>
          <c:dPt>
            <c:idx val="6"/>
            <c:invertIfNegative val="0"/>
            <c:bubble3D val="0"/>
            <c:spPr>
              <a:solidFill>
                <a:srgbClr val="CE93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79C-4FEA-9476-9BDD838373B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0% Disc</c:v>
                </c:pt>
                <c:pt idx="1">
                  <c:v>5% Disc</c:v>
                </c:pt>
                <c:pt idx="2">
                  <c:v>10% Disc</c:v>
                </c:pt>
                <c:pt idx="3">
                  <c:v>15% Disc</c:v>
                </c:pt>
                <c:pt idx="4">
                  <c:v>20% Disc</c:v>
                </c:pt>
                <c:pt idx="5">
                  <c:v>25% Disc</c:v>
                </c:pt>
                <c:pt idx="6">
                  <c:v>30% Disc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892.3</c:v>
                </c:pt>
                <c:pt idx="1">
                  <c:v>756.4</c:v>
                </c:pt>
                <c:pt idx="2">
                  <c:v>710.2</c:v>
                </c:pt>
                <c:pt idx="3">
                  <c:v>618.5</c:v>
                </c:pt>
                <c:pt idx="4">
                  <c:v>534.79999999999995</c:v>
                </c:pt>
                <c:pt idx="5">
                  <c:v>432.1</c:v>
                </c:pt>
                <c:pt idx="6">
                  <c:v>331.5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79C-4FEA-9476-9BDD838373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00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001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00010"/>
    </a:solidFill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New vs Repeat Customers by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Customers</c:v>
                </c:pt>
              </c:strCache>
            </c:strRef>
          </c:tx>
          <c:spPr>
            <a:solidFill>
              <a:srgbClr val="8B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Retail</c:v>
                </c:pt>
                <c:pt idx="1">
                  <c:v>Walk-in</c:v>
                </c:pt>
                <c:pt idx="2">
                  <c:v>Wholesale</c:v>
                </c:pt>
                <c:pt idx="3">
                  <c:v>Corporate</c:v>
                </c:pt>
                <c:pt idx="4">
                  <c:v>Online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612</c:v>
                </c:pt>
                <c:pt idx="1">
                  <c:v>589</c:v>
                </c:pt>
                <c:pt idx="2">
                  <c:v>578</c:v>
                </c:pt>
                <c:pt idx="3">
                  <c:v>545</c:v>
                </c:pt>
                <c:pt idx="4">
                  <c:v>552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42-465B-BBFB-4359AFEA55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Repeat Customers</c:v>
                </c:pt>
              </c:strCache>
            </c:strRef>
          </c:tx>
          <c:spPr>
            <a:solidFill>
              <a:srgbClr val="FF8A8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Retail</c:v>
                </c:pt>
                <c:pt idx="1">
                  <c:v>Walk-in</c:v>
                </c:pt>
                <c:pt idx="2">
                  <c:v>Wholesale</c:v>
                </c:pt>
                <c:pt idx="3">
                  <c:v>Corporate</c:v>
                </c:pt>
                <c:pt idx="4">
                  <c:v>Online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399</c:v>
                </c:pt>
                <c:pt idx="1">
                  <c:v>441</c:v>
                </c:pt>
                <c:pt idx="2">
                  <c:v>425</c:v>
                </c:pt>
                <c:pt idx="3">
                  <c:v>441</c:v>
                </c:pt>
                <c:pt idx="4">
                  <c:v>418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42-465B-BBFB-4359AFEA55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00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001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10001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065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8.xml"/><Relationship Id="rId4" Type="http://schemas.openxmlformats.org/officeDocument/2006/relationships/chart" Target="../charts/char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777240"/>
            <a:ext cx="6949440" cy="356616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96012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Customer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1188720" y="1737360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kern="0" spc="5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DASHBOARD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0" y="2450592"/>
            <a:ext cx="402336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57860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Mohammed Husein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32918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Presentation   |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10/03/2026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4462272"/>
            <a:ext cx="1627632" cy="59436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48056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74320" y="482803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93392" y="4462272"/>
            <a:ext cx="1627632" cy="59436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448056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₹43.77 Cr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993392" y="482803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12464" y="4462272"/>
            <a:ext cx="1627632" cy="59436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2464" y="448056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₹19.76 Cr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12464" y="482803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31536" y="4462272"/>
            <a:ext cx="1627632" cy="59436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1536" y="448056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31536" y="482803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50608" y="4462272"/>
            <a:ext cx="1627632" cy="59436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448056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Categories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50608" y="482803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/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dashboard was built and what it covers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" y="877824"/>
            <a:ext cx="4160520" cy="397764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347472" y="10789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1491529"/>
            <a:ext cx="3931920" cy="2225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Sales &amp; Customer dataset has 5,000 orders over 3 years (2022–2024) across 6 product categories, 5 regions and multiple customer types.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managing and interpreting this raw data is time-consuming for decision-makers and managers.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PPT dashboard is needed to present KPIs, trends and comparisons in a visually compelling format for quick decisions.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60520" cy="397764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4864608" y="10789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05404" y="1410638"/>
            <a:ext cx="3850327" cy="2838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5,000 transactions from 2022–2024.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monthly, quarterly and yearly revenue &amp; profit trends.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product category and sub-category performance.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revenue across 5 regions and top 10 states/cities.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customer segments — type, gender, age group.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sales rep performance and contribution.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payment modes, delivery types and order fulfillment.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Will Use This Dashboard?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 and their use-cases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4160520" cy="397764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789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1481328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Managers &amp; Business Heads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revenue targets, team performance and growth.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Accounts Teams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tracking, cost analysis and margin review.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Teams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top-performing categories and customer segments.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60520" cy="397764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0789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Users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64608" y="1481328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Logistics Teams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order status, delivery modes and return rates.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Analysts &amp; BI Learners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in Excel sales analytics and dashboard design.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Management / CXOs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executive summaries for strategic decisions.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Sales Training Teams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sales rep performance and set targets.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size and key fields in the dataset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24128"/>
            <a:ext cx="2011680" cy="141732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789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(Sales Data Sheet)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04872" y="1024128"/>
            <a:ext cx="2011680" cy="141732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6312" y="10789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96312" y="1417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5,001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30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81144" y="1024128"/>
            <a:ext cx="2011680" cy="141732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ADFF2F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10789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DF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72584" y="1417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2022–2024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Years)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57416" y="1024128"/>
            <a:ext cx="2011680" cy="141732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AB40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48856" y="10789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48856" y="1417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28600" y="2606040"/>
            <a:ext cx="8686800" cy="237744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67004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 (30 Columns)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" y="30632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/ Quarter / Year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 &amp; Name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Age &amp; Gender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State &amp; Region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Type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0" y="30632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Sub-Category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 &amp; Units Sold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Cost &amp; Profit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%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%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53328" y="30632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Mode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Email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Phone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visuals and KPI components used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8686800" cy="397764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Total Profit, Total Orders, Avg Order Value, Avg Rating, Delivery Rate, Returns, Cancellations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&amp; Profit, Revenue by Category, Top 5 Products, Sub-Category Revenue, Payment Mode Orders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ADF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Column Charts: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Revenue vs Profit, Quarterly Performance, Revenue by Region, Sales Rep Performance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FFA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Charts: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Profit Trend, Customer Age Group Revenue, Delivery Mode Revenue Comparison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/ Doughnut Charts: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Status, Revenue by Customer Type, Gender Split, Customer Rating Distribution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States by Revenue, Top 10 Cities by Revenue, Regional Performance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 &amp; Profit, Region-wise, Category, Payment Mode, Order Status, Gender, Year-wise, Customer Type, Delivery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Executive KPI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performance metrics at a glance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024128"/>
            <a:ext cx="1627632" cy="102412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024128"/>
            <a:ext cx="1627632" cy="64008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0972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₹43.77 Cr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1168" y="16642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56816" y="1024128"/>
            <a:ext cx="1627632" cy="1024128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56816" y="1024128"/>
            <a:ext cx="1627632" cy="64008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56816" y="10972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₹19.76 Cr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56816" y="16642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12464" y="1024128"/>
            <a:ext cx="1627632" cy="10241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12464" y="1024128"/>
            <a:ext cx="1627632" cy="64008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2464" y="10972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12464" y="16642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68112" y="1024128"/>
            <a:ext cx="1627632" cy="102412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68112" y="1024128"/>
            <a:ext cx="1627632" cy="64008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10972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₹87,541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68112" y="16642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223760" y="1024128"/>
            <a:ext cx="1627632" cy="10241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0" y="1024128"/>
            <a:ext cx="1627632" cy="64008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10972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3.74 ★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223760" y="16642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 Rating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01168" y="2194560"/>
            <a:ext cx="1627632" cy="10241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1168" y="2194560"/>
            <a:ext cx="1627632" cy="64008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" y="226771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2,812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01168" y="28346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Orders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956816" y="2194560"/>
            <a:ext cx="1627632" cy="10241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56816" y="2194560"/>
            <a:ext cx="1627632" cy="64008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56816" y="226771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741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956816" y="28346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Orders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712464" y="2194560"/>
            <a:ext cx="1627632" cy="102412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12464" y="2194560"/>
            <a:ext cx="1627632" cy="64008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12464" y="226771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735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712464" y="28346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Orders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68112" y="2194560"/>
            <a:ext cx="1627632" cy="1024128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68112" y="2194560"/>
            <a:ext cx="1627632" cy="64008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68112" y="226771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712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468112" y="28346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Orders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223760" y="2194560"/>
            <a:ext cx="1627632" cy="10241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23760" y="2194560"/>
            <a:ext cx="1627632" cy="64008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3760" y="226771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45.1%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223760" y="28346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-3681515" y="1216152"/>
            <a:ext cx="8741664" cy="530352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" y="3438144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 |  Revenue: ₹15.21 Cr  |  Profit: ₹6.88 Cr  |  Orders: 1,707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200400" y="3438144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 |  Revenue: ₹13.24 Cr  |  Profit: ₹5.89 Cr  |  Orders: 1,630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108192" y="3438144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 |  Revenue: ₹15.32 Cr  |  Profit: ₹6.98 Cr  |  Orders: 1,663  ← BEST YEAR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28600" y="4096512"/>
            <a:ext cx="8686800" cy="886968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4169664"/>
            <a:ext cx="8458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2024 achieved the highest revenue (₹15.32 Cr) — a +15.8% recovery vs 2023 dip. High avg order value of ₹87,541 confirms Electronics dominance with high-ticket purchases.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Monthly Revenue &amp; Profit Trends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Full-year performance across all 12 months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peaks at ₹42.4L — strongest month. May is weakest at ₹31.4L. Q3 (Jul–Sep) consistently leads all quarters with ₹116.2L combined revenue.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931920" y="960120"/>
          <a:ext cx="49834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4096512"/>
            <a:ext cx="8686800" cy="886968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4169664"/>
            <a:ext cx="8458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Nov is consistently weakest (₹32.6L) — ideal for targeted promotions. Aug–Oct form the strongest 3-month window. Seasonal campaigns ahead of August can amplify peak performance further.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Quarterly Performance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profit compared across Q1 to Q4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dominates with ₹116.2L revenue and ₹52.3L profit — the best quarter. Q2 is the weakest. Strong Q3–Q4 recovery after mid-year slowdown.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931920" y="960120"/>
          <a:ext cx="49834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3108960"/>
            <a:ext cx="822960" cy="804672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3145536"/>
            <a:ext cx="804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₹1,074L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₹483.7L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115568" y="3108960"/>
            <a:ext cx="822960" cy="804672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AB40">
                <a:alpha val="7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33856" y="3145536"/>
            <a:ext cx="804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A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A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₹1,043.7L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A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₹470.9L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002536" y="3108960"/>
            <a:ext cx="822960" cy="804672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ADFF2F">
                <a:alpha val="7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20824" y="3145536"/>
            <a:ext cx="804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DF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DF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₹1,162L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DF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₹523.3L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889504" y="3108960"/>
            <a:ext cx="822960" cy="804672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CE93D8">
                <a:alpha val="7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07792" y="3145536"/>
            <a:ext cx="804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₹1,096.8L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₹497.7L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28600" y="4096512"/>
            <a:ext cx="8686800" cy="886968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7472" y="4169664"/>
            <a:ext cx="8458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Q3 contributes 26.6% of annual revenue — the highest quarter. Maximise inventory and marketing spend ahead of Q3 to capitalise on the peak demand window.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Category &amp; Sub-Category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categories and sub-categories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dominates with ₹3,121L (71.3% of total). Sports &amp; Fitness and Home &amp; Kitchen follow at ~₹500L. All top sub-categories are Electronics.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931920" y="960120"/>
          <a:ext cx="49834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4096512"/>
            <a:ext cx="8686800" cy="886968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4169664"/>
            <a:ext cx="8458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Electronics alone = 71.3% of revenue. Top sub-categories: Laptops (₹1,202L), Tablets (₹930L), Mobiles (₹930L). Diversification into Sports and Home &amp; Kitchen could reduce category risk.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Top 10 Products by Revenue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Best-selling products driving the highest sales value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Air M2 leads with ₹456.6L. All top 10 products are Electronics — confirming complete category dominance. Treadmill Pro at ₹262.3L is the only non-Electronics product in top 10.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931920" y="960120"/>
          <a:ext cx="49834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4096512"/>
            <a:ext cx="8686800" cy="886968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4169664"/>
            <a:ext cx="8458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Top 5 products alone account for ₹1,718L — 39% of total revenue. iPad Air M2 at ₹456.6L is the single most valuable product, almost 50% more than the 3rd-ranked product.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Regional Performance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order distribution across 5 zones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regions perform within a close ₹143.6L range. Central leads at ₹936.1L with 996 orders. West has the most orders (1,053) despite slightly lower revenue.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931920" y="960120"/>
          <a:ext cx="49834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3127248"/>
            <a:ext cx="658368" cy="77724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" y="3145536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₹936.1L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996 orders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932688" y="3127248"/>
            <a:ext cx="658368" cy="77724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ADFF2F">
                <a:alpha val="7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" y="3145536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DF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ADF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₹927.9L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ADF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1,053 orders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1636776" y="3127248"/>
            <a:ext cx="658368" cy="77724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55064" y="3145536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₹875.4L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964 orders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340864" y="3127248"/>
            <a:ext cx="658368" cy="77724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AB40">
                <a:alpha val="7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59152" y="3145536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A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A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₹844.8L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A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orders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044952" y="3127248"/>
            <a:ext cx="658368" cy="77724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CE93D8">
                <a:alpha val="7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63240" y="3145536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₹792.5L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987 orders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228600" y="4096512"/>
            <a:ext cx="8686800" cy="886968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7472" y="4169664"/>
            <a:ext cx="8458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Regional revenue is highly balanced — no zone exceeds 21.4% of total. This indicates strong nationwide market penetration and well-distributed sales rep coverage across India.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Top States &amp; Cities by Revenue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revenue concentration across India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4206240" cy="3822192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607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States by Revenue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56032" y="1389888"/>
          <a:ext cx="4160520" cy="340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5"/>
          <p:cNvSpPr/>
          <p:nvPr/>
        </p:nvSpPr>
        <p:spPr>
          <a:xfrm>
            <a:off x="4709160" y="1005840"/>
            <a:ext cx="4206240" cy="3822192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28032" y="10607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Cities by Revenue</a:t>
            </a:r>
            <a:endParaRPr lang="en-US" sz="12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4736592" y="1389888"/>
          <a:ext cx="4160520" cy="340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Customer Segmentation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orders by customer type and gender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leads with ₹1,009L. All 5 types are balanced (~₹778L–₹1,009L). Male customers = 56.4% of revenue and 60.6% of all orders.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931920" y="960120"/>
          <a:ext cx="27889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6839712" y="960120"/>
          <a:ext cx="2084832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Shape 4"/>
          <p:cNvSpPr/>
          <p:nvPr/>
        </p:nvSpPr>
        <p:spPr>
          <a:xfrm>
            <a:off x="228600" y="4096512"/>
            <a:ext cx="8686800" cy="886968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47472" y="4169664"/>
            <a:ext cx="8458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Retail customers generate 23.1% of total revenue. Male customers dominate (60.6% of orders). Targeted male-focused campaigns in Electronics could further boost revenue significantly.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Customer Age Group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orders across all age segments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46–55 age group generates the highest revenue (₹1,017.5L) with 1,066 orders. All age groups have similar order counts (~1,000 each), showing broad age reach.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931920" y="960120"/>
          <a:ext cx="49834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4096512"/>
            <a:ext cx="8686800" cy="886968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4169664"/>
            <a:ext cx="8458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46–55 group has the highest avg order value (~₹95,448/order). This premium segment responds well to high-value Electronics bundles and loyalty programmes.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Payment &amp; Delivery Modes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payment preferences and delivery channel performance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4206240" cy="3822192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607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Payment Mode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56032" y="1389888"/>
          <a:ext cx="4160520" cy="340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5"/>
          <p:cNvSpPr/>
          <p:nvPr/>
        </p:nvSpPr>
        <p:spPr>
          <a:xfrm>
            <a:off x="4709160" y="1005840"/>
            <a:ext cx="4206240" cy="3822192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28032" y="10607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Delivery Mode (₹L)</a:t>
            </a:r>
            <a:endParaRPr lang="en-US" sz="12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4736592" y="1389888"/>
          <a:ext cx="4160520" cy="340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Order Status &amp; Fulfillment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success rate and operational performance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56.2% orders are successfully delivered. 43.8% represent ₹19.2 Cr in lost or delayed revenue — cancellations (735), returns (712) and pending (741).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931920" y="960120"/>
          <a:ext cx="49834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4096512"/>
            <a:ext cx="8686800" cy="886968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4169664"/>
            <a:ext cx="8458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CRITICAL: 43.8% non-delivery rate (2,188 orders). Even a 10% improvement would recover ~₹1.9 Cr. Focus on reducing cancellations (735) and returns (712) through better product listings and delivery SLAs.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Sales Representative Performance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revenue and orders generated by each sales rep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Shah leads with ₹244.8L from 217 orders. Subhash Das shows best revenue efficiency — ₹233.6L from only 167 orders (highest avg order value per rep).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931920" y="960120"/>
          <a:ext cx="49834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4096512"/>
            <a:ext cx="8686800" cy="886968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4169664"/>
            <a:ext cx="8458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Sales rep revenue is well-balanced (₹190L–₹244L range). If lower performers matched Rohan Shah's conversion rate, an additional ₹200L+ revenue could be unlocked annually.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Customer Rating Distribution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satisfied customers are with their purchases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customers give 3 or 4 stars (4,000 orders). Only 99 orders (2%) get 5-star ratings — a major satisfaction gap. Avg rating is 3.74/5.0.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931920" y="960120"/>
          <a:ext cx="49834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4096512"/>
            <a:ext cx="8686800" cy="886968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4169664"/>
            <a:ext cx="8458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Only 2% of customers give 5-star ratings vs 18% giving 2-star. Raising 5-star share from 2% to 10% would signal a strong customer experience transformation and drive repeat purchases.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Year-over-Year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revenue, profit and order trends 2022–2024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is the strongest year (₹15.32 Cr, +15.8% vs 2023). Profit margin held steady at ~45% across all 3 years despite revenue fluctuations.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931920" y="960120"/>
          <a:ext cx="49834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3127248"/>
            <a:ext cx="1115568" cy="77724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3145536"/>
            <a:ext cx="1042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Rev: ₹15.21 Cr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Profit: ₹6.88 Cr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Orders: 1,707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435608" y="3127248"/>
            <a:ext cx="1115568" cy="77724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7043">
                <a:alpha val="7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81328" y="3145536"/>
            <a:ext cx="1042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Rev: ₹13.24 Cr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Profit: ₹5.89 Cr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Orders: 1,630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642616" y="3127248"/>
            <a:ext cx="1115568" cy="77724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88336" y="3145536"/>
            <a:ext cx="1042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Rev: ₹15.32 Cr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Profit: ₹6.98 Cr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Orders: 1,663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28600" y="4096512"/>
            <a:ext cx="8686800" cy="886968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" y="4169664"/>
            <a:ext cx="8458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2023 dipped -13% vs 2022 (likely market slowdown). 2024 fully recovered and exceeded the 2022 baseline, signalling strong demand resurgence and improved sales strategy execution.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Profitability Deep Dive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margins and cost analysis across categories and months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4206240" cy="3822192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607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by Category (%)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56032" y="1389888"/>
          <a:ext cx="4160520" cy="340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5"/>
          <p:cNvSpPr/>
          <p:nvPr/>
        </p:nvSpPr>
        <p:spPr>
          <a:xfrm>
            <a:off x="4709160" y="1005840"/>
            <a:ext cx="4206240" cy="3822192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28032" y="10607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Profit Margin (%)</a:t>
            </a:r>
            <a:endParaRPr lang="en-US" sz="12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4736592" y="1389888"/>
          <a:ext cx="4160520" cy="340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Discount &amp; Revenue Impact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discounting affects sales volume and revenue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3520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range from 0% to 30% across products. Discounted orders still drive significant revenue. Understanding discount elasticity is key to margin management.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931920" y="960120"/>
          <a:ext cx="49834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4096512"/>
            <a:ext cx="8686800" cy="886968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4169664"/>
            <a:ext cx="8458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Zero-discount orders generate the highest revenue. Each 5% discount increment reduces revenue by ~13–15%. Smart discount targeting (only on slow-moving SKUs) can protect overall margins.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Customer Loyalty &amp; Retention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buyer patterns and customer value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24128"/>
            <a:ext cx="1627632" cy="96012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7043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6070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35331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612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Repeat: 399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84248" y="1024128"/>
            <a:ext cx="1627632" cy="96012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84248" y="106070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84248" y="135331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589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Repeat: 441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39896" y="1024128"/>
            <a:ext cx="1627632" cy="96012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ADFF2F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9896" y="106070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DF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39896" y="135331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578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Repeat: 425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95544" y="1024128"/>
            <a:ext cx="1627632" cy="96012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95544" y="106070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95544" y="135331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545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Repeat: 441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51192" y="1024128"/>
            <a:ext cx="1627632" cy="96012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CE93D8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51192" y="106070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51192" y="135331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552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Repeat: 418</a:t>
            </a:r>
            <a:endParaRPr lang="en-US" sz="11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228600" y="2148840"/>
          <a:ext cx="8686800" cy="19933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Shape 18"/>
          <p:cNvSpPr/>
          <p:nvPr/>
        </p:nvSpPr>
        <p:spPr>
          <a:xfrm>
            <a:off x="228600" y="4096512"/>
            <a:ext cx="8686800" cy="886968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7472" y="4169664"/>
            <a:ext cx="8458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~42% of customers are repeat buyers across all segments. Walk-in and Corporate have the highest repeat rate. Loyalty programmes targeting these segments could further improve CLV.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Revenue Concentration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contributors vs long-tail revenue breakdown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51560"/>
            <a:ext cx="8686800" cy="621792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B71C1C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430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114300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₹1,143L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252728"/>
            <a:ext cx="3474720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1252728"/>
            <a:ext cx="906902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0" y="116128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26.1%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764792"/>
            <a:ext cx="8686800" cy="621792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880E4F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85623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185623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₹2,180L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1965960"/>
            <a:ext cx="3474720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1965960"/>
            <a:ext cx="1730411" cy="27432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187452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49.8%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2478024"/>
            <a:ext cx="8686800" cy="621792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4A148C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56946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Cat.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256946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₹3,121L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2679192"/>
            <a:ext cx="3474720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2679192"/>
            <a:ext cx="2477475" cy="27432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258775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71.3%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3191256"/>
            <a:ext cx="8686800" cy="621792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1A237E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28269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Regions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17520" y="328269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₹1,900L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3392424"/>
            <a:ext cx="3474720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3392424"/>
            <a:ext cx="1508028" cy="2743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330098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43.4%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3904488"/>
            <a:ext cx="8686800" cy="621792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6064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99592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Age Groups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017520" y="39959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₹2,523L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0" y="4105656"/>
            <a:ext cx="3474720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0" y="4105656"/>
            <a:ext cx="2004913" cy="27432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95360" y="4014216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57.7%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28600" y="4096512"/>
            <a:ext cx="8686800" cy="886968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169664"/>
            <a:ext cx="8458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Just 10 products drive 49.8% of total revenue — extreme concentration risk. Diversifying high-margin products into Sports &amp; Home &amp; Kitchen categories is a key strategic priority.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Scorecard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business health assessment across key dimensions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24128"/>
            <a:ext cx="4251960" cy="8686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B71C1C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24128"/>
            <a:ext cx="82296" cy="8686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9728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 ★★★★☆  (4/5)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1499616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recovery strong (+15.8% vs 2023)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81728" y="1024128"/>
            <a:ext cx="4251960" cy="8686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880E4F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1728" y="1024128"/>
            <a:ext cx="82296" cy="86868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9728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 ★★★★★  (5/5)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499616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45.1% margin is excellent for retail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984248"/>
            <a:ext cx="4251960" cy="8686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4A148C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1984248"/>
            <a:ext cx="82296" cy="86868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05740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Fulfillment  ★★☆☆☆  (2/5)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" y="2459736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56.2% delivery rate — CRITICAL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984248"/>
            <a:ext cx="4251960" cy="8686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1A237E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1728" y="1984248"/>
            <a:ext cx="82296" cy="8686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05740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 ★★★☆☆  (3/5)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459736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3.74/5.0 — room for improvement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944368"/>
            <a:ext cx="4251960" cy="8686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6064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2944368"/>
            <a:ext cx="82296" cy="86868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01752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Diversity  ★★☆☆☆  (2/5)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" y="3419856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71.3% revenue from 1 category — risky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81728" y="2944368"/>
            <a:ext cx="4251960" cy="8686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1B5E20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2944368"/>
            <a:ext cx="82296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01752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Coverage  ★★★★★  (5/5)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419856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regions contributing equally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904488"/>
            <a:ext cx="4251960" cy="8686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8B0000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904488"/>
            <a:ext cx="82296" cy="8686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397764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 Balance  ★★★★☆  (4/5)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3192" y="4379976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well-spread across 8 reps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81728" y="3904488"/>
            <a:ext cx="4251960" cy="8686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6A0080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81728" y="3904488"/>
            <a:ext cx="82296" cy="868680"/>
          </a:xfrm>
          <a:prstGeom prst="rect">
            <a:avLst/>
          </a:prstGeom>
          <a:solidFill>
            <a:srgbClr val="6A0080"/>
          </a:solidFill>
          <a:ln w="12700">
            <a:solidFill>
              <a:srgbClr val="6A00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97764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Flexibility  ★★★★★  (5/5)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0" y="4379976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payment modes — excellent choice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action items for business improvement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24128"/>
            <a:ext cx="4251960" cy="118872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7043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24128"/>
            <a:ext cx="82296" cy="118872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9728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01. Fix Fulfillment 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1481328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43.8% non-delivery rate through better delivery SLAs, logistics partnerships, and real-time order tracking to unlock ₹1.9 Cr+ in recoverable revenue.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81728" y="1024128"/>
            <a:ext cx="4251960" cy="118872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1728" y="1024128"/>
            <a:ext cx="82296" cy="1188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9728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02. Diversify Product Mix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481328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at 71.3% is a concentration risk. Invest in Sports, Home &amp; Kitchen marketing. Target 60% Electronics, 40% others within 2 years.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322576"/>
            <a:ext cx="4251960" cy="118872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322576"/>
            <a:ext cx="82296" cy="1188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39572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03. Boost Customer Ratings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" y="2779776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2% 5-star ratings. Implement post-delivery satisfaction surveys, address top return reasons, and build a customer feedback loop to improve from 3.74 to 4.2+.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2322576"/>
            <a:ext cx="4251960" cy="118872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ADFF2F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1728" y="2322576"/>
            <a:ext cx="82296" cy="1188720"/>
          </a:xfrm>
          <a:prstGeom prst="rect">
            <a:avLst/>
          </a:prstGeom>
          <a:solidFill>
            <a:srgbClr val="ADFF2F"/>
          </a:solidFill>
          <a:ln w="12700">
            <a:solidFill>
              <a:srgbClr val="ADFF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39572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DF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04. Target the 46–55 Age Group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779776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per order (₹95,448 avg). Create premium product bundles and exclusive loyalty schemes specifically targeting this high-value segment.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621024"/>
            <a:ext cx="4251960" cy="118872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CE93D8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621024"/>
            <a:ext cx="82296" cy="118872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694176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05. Maximise Q3 Performance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" y="4078224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is the peak quarter. Plan major product launches, discount events and marketing campaigns to arrive ahead of August — the single highest-revenue month.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81728" y="3621024"/>
            <a:ext cx="4251960" cy="118872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AB40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3621024"/>
            <a:ext cx="82296" cy="1188720"/>
          </a:xfrm>
          <a:prstGeom prst="rect">
            <a:avLst/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694176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A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06. Replicate Top Rep Strategies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4078224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Shah (₹244.8L) and Subhash Das (highest efficiency) should mentor lower-performing reps. Structured training could add ₹200L+ in annual revenue.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— Complete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major findings consolidated in one view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24128"/>
            <a:ext cx="4251960" cy="87782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B71C1C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24128"/>
            <a:ext cx="82296" cy="87782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7899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Electronics Dominance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3192" y="1444752"/>
            <a:ext cx="4005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71.3% of ₹43.77 Cr total revenue. All top 10 products are Electronics.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81728" y="1024128"/>
            <a:ext cx="4251960" cy="87782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880E4F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1728" y="1024128"/>
            <a:ext cx="82296" cy="877824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7899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August is Peak Month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46320" y="1444752"/>
            <a:ext cx="4005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₹42.4L revenue — 35% above the weakest month (May ₹31.4L).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993392"/>
            <a:ext cx="4251960" cy="87782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4A148C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1993392"/>
            <a:ext cx="82296" cy="877824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048256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Q3 Strongest Quarter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93192" y="2414016"/>
            <a:ext cx="4005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₹116.2L revenue, ₹52.3L profit — highest of all 4 quarters.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993392"/>
            <a:ext cx="4251960" cy="87782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1A237E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1728" y="1993392"/>
            <a:ext cx="82296" cy="87782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048256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2024 Best Year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2414016"/>
            <a:ext cx="4005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₹15.32 Cr (+15.8% vs 2023). Profit margin stable at 45.1%.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962656"/>
            <a:ext cx="4251960" cy="87782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6064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2962656"/>
            <a:ext cx="82296" cy="877824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017520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Balanced Regions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93192" y="3383280"/>
            <a:ext cx="4005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zones within ₹143.6L of each other — strong nationwide reach.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81728" y="2962656"/>
            <a:ext cx="4251960" cy="87782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8B0000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2962656"/>
            <a:ext cx="82296" cy="87782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017520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Fulfillment Crisis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46320" y="3383280"/>
            <a:ext cx="4005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43.8% non-delivery rate = ₹19.2 Cr at risk. Most urgent issue.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931920"/>
            <a:ext cx="4251960" cy="87782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6A0080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931920"/>
            <a:ext cx="82296" cy="877824"/>
          </a:xfrm>
          <a:prstGeom prst="rect">
            <a:avLst/>
          </a:prstGeom>
          <a:solidFill>
            <a:srgbClr val="6A0080"/>
          </a:solidFill>
          <a:ln w="12700">
            <a:solidFill>
              <a:srgbClr val="6A0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3986784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46–55 Top Earners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93192" y="4352544"/>
            <a:ext cx="4005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age group at ₹1,017.5L and ₹95,448 avg order.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81728" y="3931920"/>
            <a:ext cx="4251960" cy="87782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1B5E20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81728" y="3931920"/>
            <a:ext cx="82296" cy="87782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986784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Low 5-Star Ratings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46320" y="4352544"/>
            <a:ext cx="4005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2% (99 orders) get 5-star ratings — satisfaction gap to address.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improvements to extend dashboard capabilities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24128"/>
            <a:ext cx="4251960" cy="123444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24128"/>
            <a:ext cx="82296" cy="12344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11556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Live Data Integration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499616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live sales DB or CRM for real-time KPI updates.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2395728"/>
            <a:ext cx="4251960" cy="123444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2395728"/>
            <a:ext cx="82296" cy="12344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48716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Predictive Analytics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" y="2871216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forecasting, demand prediction and churn risk models.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3767328"/>
            <a:ext cx="4251960" cy="123444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ADFF2F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3767328"/>
            <a:ext cx="82296" cy="1234440"/>
          </a:xfrm>
          <a:prstGeom prst="rect">
            <a:avLst/>
          </a:prstGeom>
          <a:solidFill>
            <a:srgbClr val="ADFF2F"/>
          </a:solidFill>
          <a:ln w="12700">
            <a:solidFill>
              <a:srgbClr val="ADFF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385876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DF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Customer Lifetime Value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" y="4242816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by CLV to identify high-value retention targets.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81728" y="1024128"/>
            <a:ext cx="4251960" cy="123444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AB40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1728" y="1024128"/>
            <a:ext cx="82296" cy="1234440"/>
          </a:xfrm>
          <a:prstGeom prst="rect">
            <a:avLst/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11556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A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Product Recommendation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499616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Cross-sell/up-sell suggestions based on purchase history.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81728" y="2395728"/>
            <a:ext cx="4251960" cy="123444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40C4FF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81728" y="2395728"/>
            <a:ext cx="82296" cy="1234440"/>
          </a:xfrm>
          <a:prstGeom prst="rect">
            <a:avLst/>
          </a:prstGeom>
          <a:solidFill>
            <a:srgbClr val="40C4FF"/>
          </a:solidFill>
          <a:ln w="12700">
            <a:solidFill>
              <a:srgbClr val="40C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48716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City-Level Geographic Maps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871216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state and city drill-down maps for granular analysis.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81728" y="3767328"/>
            <a:ext cx="4251960" cy="123444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CE93D8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3767328"/>
            <a:ext cx="82296" cy="123444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85876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Automated Alerts &amp; Reports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4242816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alerts for sales dips, return spikes or stock anomalies.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1078992"/>
            <a:ext cx="4572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07008"/>
            <a:ext cx="8412480" cy="31546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371600"/>
            <a:ext cx="80924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Sales &amp; Customer Analysis Dashboard transforms 5,000 raw transactions across 3 years into clear, actionable business intelligence. Electronics dominates at 71.3% of revenue; August and Q3 are peak periods; 2024 marks the best year with ₹15.32 Cr. Regional performance is impressively balanced across all 5 zones. The 43.8% non-delivery rate remains the most critical risk requiring urgent operational improvement. With future enhancements — predictive analytics, live data, CLV segmentation, geographic drill-downs — this dashboard evolves into a complete strategic intelligence platform enabling faster decisions, better customer targeting, improved fulfillment, and sustainable revenue growth.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4507992"/>
            <a:ext cx="1591056" cy="50292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454456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₹43.77 Cr  Total Revenue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48256" y="4507992"/>
            <a:ext cx="1591056" cy="50292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832" y="454456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₹19.76 Cr  Total Profit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30752" y="4507992"/>
            <a:ext cx="1591056" cy="50292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7328" y="454456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 Orders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13248" y="4507992"/>
            <a:ext cx="1591056" cy="50292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9824" y="454456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45.1%  Profit Margin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095744" y="4507992"/>
            <a:ext cx="1591056" cy="50292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454456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71.3%  Electronics Share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</a:rPr>
              <a:t>Key Insights — Sub-Category Deep Dive</a:t>
            </a:r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</a:rPr>
              <a:t>Revenue breakdown by individual product sub-categories across all 6 categories</a:t>
            </a:r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80000"/>
            <a:ext cx="4000000" cy="2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</a:rPr>
              <a:t>💻 Electronics Sub-Categories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Laptops    ₹1,202L  (38.5%)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Tablets      ₹930L  (29.8%)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Mobiles    ₹930L  (29.8%)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Smart Watches  ₹59L  (1.9%)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</a:rPr>
              <a:t>🏠 Home &amp; Kitchen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Home Appliances  ₹290L  (60.7%)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Kitchen Tools   ₹188L  (39.3%)</a:t>
            </a:r>
          </a:p>
        </p:txBody>
      </p:sp>
      <p:sp>
        <p:nvSpPr>
          <p:cNvPr id="6" name="Text 4"/>
          <p:cNvSpPr/>
          <p:nvPr/>
        </p:nvSpPr>
        <p:spPr>
          <a:xfrm>
            <a:off x="4572000" y="980000"/>
            <a:ext cx="4297680" cy="2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</a:rPr>
              <a:t>🏃 Sports &amp; Fitness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Sports Equipment  ₹310L  (62%)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Fitness Gear     ₹190L  (38%)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</a:rPr>
              <a:t>👕 Clothing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Men’s Clothing  ₹98L  (57.3%)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Women’s Clothing  ₹73L  (42.7%)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</a:rPr>
              <a:t>📚 Beauty &amp; Books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Skincare ₹70L  |  Books ₹36L</a:t>
            </a:r>
          </a:p>
        </p:txBody>
      </p:sp>
      <p:sp>
        <p:nvSpPr>
          <p:cNvPr id="7" name="Shape 5"/>
          <p:cNvSpPr/>
          <p:nvPr/>
        </p:nvSpPr>
        <p:spPr>
          <a:xfrm>
            <a:off x="228600" y="4096512"/>
            <a:ext cx="8686800" cy="886968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169664"/>
            <a:ext cx="8458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💡  Laptops alone drive ₹1,202L — 27.5% of total revenue. Top 3 Electronics sub-categories account for 88.1% of Electronics revenue. Growing Sports Equipment and Home Appliances sub-categories by 20% each would add ₹100L+ annually with minimal cost.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</a:rPr>
              <a:t>Key Insights — Customer Retention &amp; CLV</a:t>
            </a:r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</a:rPr>
              <a:t>Repeat buyer patterns, customer lifetime value and segment loyalty analysis</a:t>
            </a:r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80000"/>
            <a:ext cx="8595360" cy="28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</a:rPr>
              <a:t>New vs Repeat Customers by Segment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</a:rPr>
              <a:t>Retail:  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612 New  |  399 Repeat  |  39.4% Retention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</a:rPr>
              <a:t>Walk-in: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589 New  |  441 Repeat  |  42.8% Retention ★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</a:rPr>
              <a:t>Wholesale: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578 New  |  425 Repeat  |  42.4% Retention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</a:rPr>
              <a:t>Corporate: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545 New  |  441 Repeat  |  44.7% Retention ★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</a:rPr>
              <a:t>Online: 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552 New  |  418 Repeat  |  43.1% Retention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</a:rPr>
              <a:t>Overall CLV Snapshot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Avg New Customer Spend: ₹87,541   |   Avg Repeat Customer Spend: ₹109,450 (est.)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Total Repeat Revenue: ₹2,124 Cr (est.)   |   42% of customers are repeat buyers</a:t>
            </a:r>
          </a:p>
        </p:txBody>
      </p:sp>
      <p:sp>
        <p:nvSpPr>
          <p:cNvPr id="6" name="Shape 4"/>
          <p:cNvSpPr/>
          <p:nvPr/>
        </p:nvSpPr>
        <p:spPr>
          <a:xfrm>
            <a:off x="228600" y="4096512"/>
            <a:ext cx="8686800" cy="886968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169664"/>
            <a:ext cx="8458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💡  Corporate &amp; Walk-in segments have the highest retention (44.7% and 42.8%). A 5% increase in retention across all segments would generate ₹120L+ in incremental repeat revenue. Launching a tiered loyalty programme with personalised Electronics offers could push retention above 50%.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</a:rPr>
              <a:t>Key Insights — Sales Representative Comparison</a:t>
            </a:r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</a:rPr>
              <a:t>Revenue, orders and efficiency metrics for all 8 sales representatives</a:t>
            </a:r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80000"/>
            <a:ext cx="8595360" cy="28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</a:rPr>
              <a:t>Sales Rep            Revenue (L)    Orders    Avg/Order    Rank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FF88"/>
                </a:solidFill>
                <a:latin typeface="Calibri" pitchFamily="34" charset="0"/>
              </a:rPr>
              <a:t>Rohan Shah           ₹244.8L     217       ₹1.13L    #1 Revenue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FF88"/>
                </a:solidFill>
                <a:latin typeface="Calibri" pitchFamily="34" charset="0"/>
              </a:rPr>
              <a:t>Subhash Das          ₹233.6L     167       ₹1.40L    #1 Efficiency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Manish Chouhan       ₹222.1L     201       ₹1.11L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Lakshmi Devi         ₹220.2L     198       ₹1.11L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Sneha Patil          ₹213.3L     194       ₹1.10L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Kavita Dubey         ₹210.8L     191       ₹1.10L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Deepak Yadav         ₹197.8L     178       ₹1.11L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Rekha Mishra         ₹190.2L     174       ₹1.09L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</a:rPr>
              <a:t>Revenue gap (Top vs Bottom): ₹54.6L  |  If all matched Subhash Das efficiency: +₹200L potential</a:t>
            </a:r>
          </a:p>
        </p:txBody>
      </p:sp>
      <p:sp>
        <p:nvSpPr>
          <p:cNvPr id="6" name="Shape 4"/>
          <p:cNvSpPr/>
          <p:nvPr/>
        </p:nvSpPr>
        <p:spPr>
          <a:xfrm>
            <a:off x="228600" y="4096512"/>
            <a:ext cx="8686800" cy="886968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169664"/>
            <a:ext cx="8458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💡  Subhash Das closes ₹1.40L per order vs team avg ₹1.12L — 25% above average. Rohan Shah has the most volume (217 orders). A structured sales coaching programme pairing both strategies could unlock ₹200L+ in additional annual revenue from the bottom 3 reps.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</a:rPr>
              <a:t>Key Insights — Month-wise Performance Heatmap</a:t>
            </a:r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alibri" pitchFamily="34" charset="0"/>
              </a:rPr>
              <a:t>Revenue and profit patterns across all 12 months — identifying peak and weak periods</a:t>
            </a:r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36576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000"/>
            <a:ext cx="8595360" cy="2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</a:rPr>
              <a:t>Month    Revenue(₹L)   Profit(₹L)   Margin%    Performance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January   360.7        166.0        46.0%      ■■■■□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February  380.9        171.6        45.0%      ■■■■□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March     332.5        146.1        43.9%      ■■■□□  WEAK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April     397.6        182.3        45.8%      ■■■■□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6666"/>
                </a:solidFill>
                <a:latin typeface="Calibri" pitchFamily="34" charset="0"/>
              </a:rPr>
              <a:t>May       313.6        140.7        44.9%      ■■■□□  LOWEST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June      332.4        147.9        44.5%      ■■■□□  WEAK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July      336.1        148.4        44.2%      ■■■□□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FF88"/>
                </a:solidFill>
                <a:latin typeface="Calibri" pitchFamily="34" charset="0"/>
              </a:rPr>
              <a:t>August    423.6        188.7        44.6%      ■■■■■  PEAK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FF88"/>
                </a:solidFill>
                <a:latin typeface="Calibri" pitchFamily="34" charset="0"/>
              </a:rPr>
              <a:t>September 402.3        186.1        46.3%      ■■■■■  HIGH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October   398.2        181.1        45.5%      ■■■■□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November  325.9        145.5        44.6%      ■■■□□  WEAK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December  372.7        171.2        45.9%      ■■■■□</a:t>
            </a:r>
          </a:p>
        </p:txBody>
      </p:sp>
      <p:sp>
        <p:nvSpPr>
          <p:cNvPr id="6" name="Shape 4"/>
          <p:cNvSpPr/>
          <p:nvPr/>
        </p:nvSpPr>
        <p:spPr>
          <a:xfrm>
            <a:off x="228600" y="4096512"/>
            <a:ext cx="8686800" cy="886968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169664"/>
            <a:ext cx="8458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💡  Aug–Oct is the strongest 3-month window (₹1,224L combined). May is ₹110L below August — targeted promotions in May could recover 35% of this gap. Weak months (Mar, May, Jun, Nov) account for 4 out of 12 months — structured seasonal campaigns would smooth the revenue curve significantly.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6400800" cy="29260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2801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2743200" y="2395728"/>
            <a:ext cx="36576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523744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Mohammed Husein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9992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Customer Analysis Dashboard  |  10/03/2026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4434840"/>
            <a:ext cx="1627632" cy="59436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46227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₹43.77 Cr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74320" y="480974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93392" y="4434840"/>
            <a:ext cx="1627632" cy="59436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446227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₹19.76 Cr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993392" y="480974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12464" y="4434840"/>
            <a:ext cx="1627632" cy="59436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12464" y="446227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12464" y="480974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31536" y="4434840"/>
            <a:ext cx="1627632" cy="59436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1536" y="446227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31536" y="480974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50608" y="4434840"/>
            <a:ext cx="1627632" cy="59436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D700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0608" y="446227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150608" y="480974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3472</Words>
  <Application>Microsoft Office PowerPoint</Application>
  <PresentationFormat>On-screen Show (16:9)</PresentationFormat>
  <Paragraphs>447</Paragraphs>
  <Slides>33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Dashboard</dc:title>
  <dc:subject>PptxGenJS Presentation</dc:subject>
  <dc:creator>PptxGenJS</dc:creator>
  <cp:lastModifiedBy>mohammed husein khan</cp:lastModifiedBy>
  <cp:revision>2</cp:revision>
  <dcterms:created xsi:type="dcterms:W3CDTF">2026-03-12T12:57:30Z</dcterms:created>
  <dcterms:modified xsi:type="dcterms:W3CDTF">2026-03-17T04:07:56Z</dcterms:modified>
</cp:coreProperties>
</file>